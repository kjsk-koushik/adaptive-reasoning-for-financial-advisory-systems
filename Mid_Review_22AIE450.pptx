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305" r:id="rId12"/>
    <p:sldId id="306" r:id="rId13"/>
    <p:sldId id="300" r:id="rId14"/>
    <p:sldId id="302" r:id="rId15"/>
    <p:sldId id="30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A9B46"/>
    <a:srgbClr val="18AD4A"/>
    <a:srgbClr val="081271"/>
    <a:srgbClr val="FFFB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007E216-FF70-2B66-D446-8AF6B921A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8E699-0BFA-7ED0-E036-13061879A3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33AC-344F-40AF-9E99-79D0BF1BA136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89DF-AB4B-4A37-9579-FEAE0F1476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AFFD3-30EC-F4A9-0025-921B610F2C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E13A14-01DD-4442-9BD4-9CC7EED325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975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92E8E5-BD41-4FE3-96D2-635440A77753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9347C-ECC5-466E-9761-F9265002170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02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576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6436E-7161-BF7B-5432-3DA31D0D5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F637-4BED-E82C-E4B9-38D3C4D63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E9FD0-BD20-4D5B-80EA-257722AE8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1FB6E-1520-C5E4-5FED-A088E283F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0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936D3-2FD8-3244-24C0-1E6FF1BB9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EE3104-3E73-24FC-1070-CEE125B95C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EEEDE2-4FC9-1B7C-AFC2-7F1215AE2B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9B0B1-9606-2596-82B3-9D9E089DB4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3201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CD6A0-AD2F-FAC8-D2E7-D6195DEA2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E069-C7FB-511E-68B5-CCD360B67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199F2-933D-8F7B-93C5-04F73F94F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58E05-5B06-5EE2-88D8-FF8B4E4EA2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683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0988-B331-DCF5-D4C6-FACC42657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228F-15D7-CAC8-EF9E-82A63C14C1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DB8EE4-EAE1-3B22-0483-4466A6C6D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E87F5-E567-B116-2483-3B7BD10EFF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722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981B0-3C7C-E594-8A9F-1E5DCB2DE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B180A-42E0-985D-8274-39534FD5D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6E5EF-B972-F162-F033-5B514B69A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BC95B-0F17-313B-DD62-E4CD302176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679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2A405-697C-96BB-D845-46B140D16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368C-4F7A-B19B-5C1E-6EF638564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1DFF4-DBF5-8DC0-0CD3-7A4F8ACAD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7CE2D-F093-562F-1C4F-E91738078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2135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16E95-A2A0-D0F0-177A-6650B8896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D32F4-3A31-37D6-0BA6-03785B7D29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7F1B8-853B-A0EC-F47A-5D403AEC0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5D5C-7045-76CD-2907-958A24B84C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15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2FE74-3F49-99F0-6102-0744B8143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1B62B-F768-76D7-5459-A708C6E90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F6D5FB-3495-5ADA-098C-41946CE6F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197AF-3D91-785B-AD2C-FACE6D6685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677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0771-FB7B-7980-F441-8ADFD186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135393-10B1-DF78-115D-171B85B69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B83DA9-AA12-E1CD-5C53-192D7F4AF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4A967-6B15-B3B0-3B3D-D70A9DB277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267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CB84-BFD4-25AF-457E-A38ECFBD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F95D4-B188-CA45-82A4-80125A723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39D4C-7DE4-15F4-A113-F7E2253D0E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79DE1-A56B-028A-8ED2-DCCFF58C3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861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52E8C-9D33-D3D6-0149-3548C17F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DD26F-5A3A-1FDE-EB2E-E950A9640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AF930-D629-6A23-0ABE-C12A66FB24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5940FF-4496-78DF-DCBD-73B32E7C2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90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CCC0-7556-5CFB-65BD-794FF43B3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1C6E04-0233-F0BA-C454-C5C5BB653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712727-CEE8-AE50-32ED-AB401A5F32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1579D-5D4D-0598-8DDA-1B3A14824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445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0CD1-5242-F8A1-DAF1-8B8C64370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D798D2-118B-6F3A-A60A-B5C583D43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86D578-2725-19C6-B31D-086587F07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E9F94-EB0F-3154-1F9D-994A67F535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7315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00CF5-43D6-73B7-692C-8A9A53943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26AE69-FA85-0A53-CBB3-F66C5E0E1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D2D4D-D460-2402-A7BA-2420F03A5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0F52D-F66E-D591-3251-AA3C50A3EC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69347C-ECC5-466E-9761-F92650021703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5777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2F458-B665-432D-ACF1-3C56F813001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9733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15BD-94E4-4067-8A33-3C6EC4BD0B33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50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34687-F519-4EB7-A5A2-8F32F570280C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8776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FD66B-7BF9-457E-8F34-7A62FFE4EC1F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612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E7592-1B5F-45CD-B707-8D5A5E58EE31}" type="datetime1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63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ABBB8-8A7F-45A3-83C4-4C9477351CC6}" type="datetime1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77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35D1B-80AA-466C-8316-5AE450E66A39}" type="datetime1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563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47488-929A-4615-A557-C0AD33B297D1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252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DCACE-EBE9-4116-B81B-E040F2D3F20E}" type="datetime1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BF764-0E37-4886-B1E5-DFBF599A6490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016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9FEB4-F282-4F07-B60D-731E94E7D45B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04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4EDEC-E80A-4952-9B8F-BFE95EE7B0BE}" type="datetime1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Speech Processing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16105-7B7A-4C42-B2A1-5E9A2FA4F8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764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Google Shape;91;p1"/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itle 3"/>
          <p:cNvSpPr txBox="1">
            <a:spLocks/>
          </p:cNvSpPr>
          <p:nvPr/>
        </p:nvSpPr>
        <p:spPr>
          <a:xfrm>
            <a:off x="609598" y="2872601"/>
            <a:ext cx="10972800" cy="10441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Difficulty-Aware Deep Reinforcement Learning for Adaptive Reasoning Termination in Financial Advisory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1935319" y="236845"/>
            <a:ext cx="7999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 Mid semester project review– </a:t>
            </a:r>
            <a:r>
              <a:rPr lang="en-US" sz="2400" b="1" dirty="0">
                <a:solidFill>
                  <a:srgbClr val="7030A0"/>
                </a:solidFill>
              </a:rPr>
              <a:t>August 2026</a:t>
            </a:r>
          </a:p>
          <a:p>
            <a:pPr algn="ctr"/>
            <a:r>
              <a:rPr lang="it-IT" sz="2400" b="1" dirty="0"/>
              <a:t>22AIE450 Speech Processing</a:t>
            </a:r>
            <a:endParaRPr lang="en-IN" sz="2400" b="1" dirty="0">
              <a:solidFill>
                <a:srgbClr val="7030A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077095" y="5597101"/>
            <a:ext cx="2636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the Presentation:  &lt;fill&gt;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>
          <a:xfrm>
            <a:off x="10804848" y="6356350"/>
            <a:ext cx="548951" cy="365125"/>
          </a:xfrm>
        </p:spPr>
        <p:txBody>
          <a:bodyPr/>
          <a:lstStyle/>
          <a:p>
            <a:fld id="{C2216105-7B7A-4C42-B2A1-5E9A2FA4F8FD}" type="slidenum">
              <a:rPr lang="en-IN" smtClean="0"/>
              <a:t>1</a:t>
            </a:fld>
            <a:endParaRPr lang="en-IN" dirty="0"/>
          </a:p>
        </p:txBody>
      </p:sp>
      <p:sp>
        <p:nvSpPr>
          <p:cNvPr id="20" name="Title 3">
            <a:extLst>
              <a:ext uri="{FF2B5EF4-FFF2-40B4-BE49-F238E27FC236}">
                <a16:creationId xmlns:a16="http://schemas.microsoft.com/office/drawing/2014/main" id="{005F616E-0E20-490C-B7A2-141A2087D28E}"/>
              </a:ext>
            </a:extLst>
          </p:cNvPr>
          <p:cNvSpPr txBox="1">
            <a:spLocks/>
          </p:cNvSpPr>
          <p:nvPr/>
        </p:nvSpPr>
        <p:spPr>
          <a:xfrm>
            <a:off x="597918" y="3817890"/>
            <a:ext cx="10972800" cy="6544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  &lt;add names here&gt;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E0480C-236D-3A2D-ABFD-ACE4E92B6129}"/>
              </a:ext>
            </a:extLst>
          </p:cNvPr>
          <p:cNvSpPr/>
          <p:nvPr/>
        </p:nvSpPr>
        <p:spPr>
          <a:xfrm>
            <a:off x="150810" y="5675807"/>
            <a:ext cx="2854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and Group Number:  &lt;fill&gt;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55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41FE-5F97-2921-25A3-F1A7FE244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A0F8A49-71AE-AD86-618C-A0B8D6E12633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38E0D242-87AF-359E-195E-07517A03FA7D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13C46BA-E5D7-51E7-8342-F0FCEADDC65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E422C5-9112-9219-31BF-AAED5746C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Outline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1216E-5ED7-1FE1-7D7A-199E3471B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Introduction and Motivation</a:t>
            </a:r>
            <a:endParaRPr lang="en-IN"/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Problem Definition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Literature Review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Gaps Identified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Objectives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Methodology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Dataset Description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Preliminary Results and Discussion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Interim Summary and Conclusion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Completion Plan for the Next Phase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1A1A1A"/>
                </a:solidFill>
                <a:latin typeface="Times New Roman"/>
              </a:rPr>
              <a:t>References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6D90011-DA8D-C63E-2B2B-6712A1E5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703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3D1B-3B02-2762-5BA1-052E75565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84365C9-E666-36EE-4DB1-04791BFC26F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4D89FC00-7640-2DC1-0BAF-6A1DC613CF6B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70CA935-25F2-6478-C664-35BFDF7E81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804C7A-5A65-0B7B-02CE-9C44C0E4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Introduction and Motivation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A161-C87E-7A78-C77B-8E4D712DD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Reasoning language models generate an explicit chain of thought before answering, which improves accuracy but is expensive.</a:t>
            </a:r>
            <a:endParaRPr lang="en-IN"/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They frequently reach the correct answer early and then continue reasoning, gaining nothing.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Wasted reasoning translates directly into latency, GPU memory, inference cost and energy consumption.</a:t>
            </a:r>
          </a:p>
          <a:p>
            <a:pPr>
              <a:spcAft>
                <a:spcPts val="7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Financial advisory is a domain where this matters: queries on investment, fraud and credit risk need answers that are both reliable and prompt.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Measured on our own traces with DeepSeek-R1-Distill-Qwen-1.5B: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The model reaches the correct answer at some point in 63.3% of questions.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It still holds that answer at the end in only 42.4% of questions.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On roughly one question in five it finds the correct answer and then reasons its way away from it.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Motivation: stopping at the right moment can make the system both cheaper and more accurate.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B6D94B3-8D6F-6862-5C85-C28EA1FEB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9777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5E2F-193E-A33F-3978-CA319240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545AD15-92E9-732C-9417-BBAC2D68BE7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6B45FA5-C0D8-B29D-EFB7-2D75F15CFEF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FD2757-A6CE-CA75-DF5E-7D2CFCE7BD9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7E42682-E931-9114-270A-3AFF08B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Problem Definition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FE269-B593-74FF-FAD2-DDFE92170E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Existing approaches terminate reasoning using fixed rules:</a:t>
            </a:r>
            <a:endParaRPr lang="en-IN"/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A fixed token budget, or a fixed confidence or entropy threshold.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The same rule is applied to every query regardless of its difficulty.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No mechanism exists to learn from previous stopping decisions.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Consequences observed in our experiments: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Unnecessary reasoning tokens increase response time, GPU memory and energy.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Over-thinking also reduces accuracy, because correct intermediate answers are discarded.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Problem statement: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Given a reasoning model answering a financial query, decide at each step whether to continue reasoning or to stop and commit to the current answer, so as to minimise computation while preserving accuracy.</a:t>
            </a:r>
          </a:p>
          <a:p>
            <a:pPr lvl="1"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The decision must adapt to the difficulty of the individual query.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4CCA1BA-4669-3A76-135A-A66F2531C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70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123C0-4464-42F8-4503-DBAD8BAD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FE4153C-C4D3-1A1A-C5AD-0EDABAF376BB}"/>
              </a:ext>
            </a:extLst>
          </p:cNvPr>
          <p:cNvSpPr/>
          <p:nvPr/>
        </p:nvSpPr>
        <p:spPr>
          <a:xfrm>
            <a:off x="335901" y="9714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5CFA44B1-8C8E-AC41-316C-676C93A1F38C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A0188E-C3F1-A9BB-3116-3A2D18BFFABF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8970FD-F4A1-4859-B09E-FB033B7D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Literature Review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B9C805-DFC9-8B4B-7DF7-D8EA18709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1040983"/>
              </p:ext>
            </p:extLst>
          </p:nvPr>
        </p:nvGraphicFramePr>
        <p:xfrm>
          <a:off x="658368" y="1825625"/>
          <a:ext cx="10844784" cy="1285240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534347977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85501561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3316117077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413491554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475400392"/>
                    </a:ext>
                  </a:extLst>
                </a:gridCol>
                <a:gridCol w="2112264">
                  <a:extLst>
                    <a:ext uri="{9D8B030D-6E8A-4147-A177-3AD203B41FA5}">
                      <a16:colId xmlns:a16="http://schemas.microsoft.com/office/drawing/2014/main" val="1299346195"/>
                    </a:ext>
                  </a:extLst>
                </a:gridCol>
              </a:tblGrid>
              <a:tr h="370840"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Sl No</a:t>
                      </a:r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Title and year</a:t>
                      </a:r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Journal/ conference Name</a:t>
                      </a:r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Methodology</a:t>
                      </a:r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Key findings</a:t>
                      </a:r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latin typeface="Times New Roman"/>
                        </a:rPr>
                        <a:t>Limitations</a:t>
                      </a:r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62086968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1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FinQA: A Dataset of Numerical Reasoning over Financial Data (2021)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EMNLP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Expert-annotated QA over earnings reports; program-based numerical reasoning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Establishes financial numerical reasoning as a benchmark; large gap to human experts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Single-turn only; no notion of reasoning cost or efficiency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2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TAT-QA: Question Answering Benchmark on a Hybrid of Tabular and Textual Content in Finance (2021)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ACL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Hybrid table-and-text QA with arithmetic and comparison operations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Shows hybrid table/text reasoning is substantially harder than text alone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Answer types are heterogeneous; free-text spans are hard to grade automatically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3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ConvFinQA: Exploring the Chain of Numerical Reasoning in Conversational Finance QA (2022)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EMNLP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Multi-turn conversational decomposition of financial reasoning chains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Multi-turn dependency raises difficulty considerably over single-turn FinQA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Test answers withheld; no efficiency or termination analysis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4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Chain-of-Thought Prompting Elicits Reasoning in Large Language Models (2022)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NeurIPS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Prompting the model to produce intermediate reasoning steps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Step-by-step reasoning substantially improves multi-step arithmetic accuracy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Reasoning length is uncontrolled; longer chains are assumed to be better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5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Self-Consistency Improves Chain of Thought Reasoning in Language Models (2023)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ICLR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Sample multiple reasoning chains and take a majority vote over answers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Improves accuracy over greedy decoding; answer agreement signals confidence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Multiplies inference cost; does not address when a single chain should stop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6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DeepSeek-R1: Incentivizing Reasoning Capability in LLMs via Reinforcement Learning (2025)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arXiv preprint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RL-trained reasoning models; distilled variants emit explicit &lt;think&gt; traces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Provides open reasoning models whose chain of thought can be inspected and interrupted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Reasoning traces are long by default; no adaptive termination mechanism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  <a:tr h="370840"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7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Deep Reinforcement Learning with Double Q-Learning (2016)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AAAI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Decouples action selection from value estimation to reduce overestimation</a:t>
                      </a:r>
                      <a:endParaRPr lang="en-IN" dirty="0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Stabilises value estimates in deep Q-learning; the algorithm adopted here</a:t>
                      </a:r>
                      <a:endParaRPr lang="en-IN"/>
                    </a:p>
                  </a:txBody>
                  <a:tcPr marL="36576" marR="36576" marT="18288" marB="18288"/>
                </a:tc>
                <a:tc>
                  <a:txBody>
                    <a:bodyPr wrap="square"/>
                    <a:lstStyle/>
                    <a:p>
                      <a:r>
                        <a:rPr sz="900" b="0">
                          <a:latin typeface="Times New Roman"/>
                        </a:rPr>
                        <a:t>Designed for online interaction; offline settings need complete action coverage</a:t>
                      </a:r>
                      <a:endParaRPr lang="en-IN" dirty="0"/>
                    </a:p>
                  </a:txBody>
                  <a:tcPr marL="36576" marR="36576" marT="18288" marB="18288"/>
                </a:tc>
                <a:extLst>
                  <a:ext uri="{0D108BD9-81ED-4DB2-BD59-A6C34878D82A}">
                    <a16:rowId xmlns:a16="http://schemas.microsoft.com/office/drawing/2014/main" val="757369414"/>
                  </a:ext>
                </a:extLst>
              </a:tr>
            </a:tbl>
          </a:graphicData>
        </a:graphic>
      </p:graphicFrame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60085C-4735-997A-440D-48D4BF46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497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CA949-825D-63D7-CE6F-2C0C2BE26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9D361BF-60CB-A29B-BC0E-C180A96D459C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21145337-310C-B3D7-16AF-7230B4FFAAFE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B1533E-5A65-3CD8-558D-FCBFFB25997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798CBB9-B283-492D-9948-605C8D31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Gaps Identified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5D657-CE4C-8DEC-6D94-9F0BC6D8F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Stopping rules are fixed and query-independent.</a:t>
            </a:r>
            <a:endParaRPr lang="en-IN"/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A single threshold is applied to every question, however easy or hard.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No learning from experience.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Existing methods cannot improve their stopping decisions from observed outcomes.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Efficiency work rarely measures the accuracy cost.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Token savings are reported, but the effect on correctness is often not quantified at matched cost.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Little evidence on financial reasoning specifically.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Adaptive-computation work is concentrated on general mathematical benchmarks.</a:t>
            </a:r>
          </a:p>
          <a:p>
            <a:pPr>
              <a:spcAft>
                <a:spcPts val="600"/>
              </a:spcAft>
            </a:pPr>
            <a:r>
              <a:rPr sz="1700" b="1">
                <a:solidFill>
                  <a:srgbClr val="1E2761"/>
                </a:solidFill>
                <a:latin typeface="Times New Roman"/>
              </a:rPr>
              <a:t>The scale of discarded correct answers is undocumented.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1A1A1A"/>
                </a:solidFill>
                <a:latin typeface="Times New Roman"/>
              </a:rPr>
              <a:t>No published measurement of how often a model reaches the right answer and then abandons it during continued reasoning.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EB3C4DF-2454-49D2-6F52-CCEC8DF9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616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DF4E-C8C2-CD64-4FA4-F79AF859F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04039C4-713E-5507-F8E3-5B60ED3B2EA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749B603-B658-813C-5757-7CF34A95EDD1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EE7B70-FD0B-520D-5B79-69C9FDB2311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3F146E9-85F8-DDB8-6C1A-9FFA40E83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Objectives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402D-8798-A75B-EA2B-3C2952FD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1.  Construct a unified financial reasoning dataset in which every answer can be graded automatically, drawn from multiple public sources.</a:t>
            </a:r>
            <a:endParaRPr lang="en-IN"/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2.  Quantify over-thinking in a reasoning model on financial questions, by recording what the model would answer at every step of its reasoning.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3.  Formulate adaptive reasoning termination as a Markov Decision Process with a difficulty-aware reward, in which the cost of a reasoning token depends on the predicted difficulty of the query.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4.  Train a Deep Q-Network stopping policy offline and evaluate it against fixed-threshold baselines at matched computational cost.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5.  Establish whether reinforcement learning is necessary, by comparing against a supervised imitation control method.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A1A1A"/>
                </a:solidFill>
                <a:latin typeface="Times New Roman"/>
              </a:rPr>
              <a:t>6.  Deliver a financial advisory application that reports the response time and energy saved on each query.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1FACB82-F53B-1D1D-2F0F-EE312F9F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583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58644-8868-F5B7-976D-4FD467F5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37E3B46-FCBC-F2DE-B6C9-729A018DF37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9549DA16-3E7D-718D-4503-D7B1FE3C93C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BEFEA5E-792F-C5D7-A1FC-1478B8FBC8BD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0637594-A5F4-04BB-A078-B632BE6F4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Methodology</a:t>
            </a:r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8800-24D9-4F05-EA04-5C875AFD0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Stage A - Offline trace generation (GPU, once)</a:t>
            </a:r>
            <a:endParaRPr lang="en-IN" dirty="0"/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The reasoning model answers each question while being interrupted at fixed token intervals.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At every interruption it is asked for its current answer; the answer, its confidence and its correctness are recorded, and reasoning then resumes from the same cached state.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Result: for every question we know what would have happened had we stopped at any step.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Stage B - Offline reinforcement learning (CPU, repeatable)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State: 14 signals observable live - predicted difficulty, answer confidence, entropy and their trends, tokens consumed, answer stability, and textual progress and doubt cues.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Action: continue reasoning, or stop and answer.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Reward: +1 for a correct answer, -1 for an incorrect one, minus a per-token cost that is highest for easy questions and lowest for hard ones.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Algorithm: Double DQN, 14-128-128-2, 18,690 parameters, trained on 91,706 recorded transitions.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Because both actions were recorded at every state, no further model calls are needed during training - the policy retrains in minutes.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646F32-071B-DCD0-8A7F-A1EAB4A2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9591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A7BA1-2D3F-CBF5-3283-B58419CE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DB118F1-5011-A297-C107-1DE5F9D6A1F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F458056F-7DE4-805F-9FB6-69C95AE90453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E07F8-E24C-FA5A-7EE6-59693EC4FE00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224B9AC-70A1-80E0-22B8-64D37BC7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Dataset Description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676D6-3EAC-F431-960A-F84B4D49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Seven public sources combined into one collection of 30,660 questions:</a:t>
            </a:r>
            <a:endParaRPr lang="en-IN"/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FinQA - 8,208 numerical reasoning questions over annual reports.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Synthetic finance mathematics - 6,000 generated items (SIP, EMI, CAGR, NPV, tax) with exact computed answers.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PaySim - 5,000 mobile money transactions templated into fraud questions.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TAT-QA - 4,000 hybrid table-and-text questions.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Financial PhraseBank - 3,452 sentiment items forming the easy tier.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ConvFinQA - 3,000 multi-turn conversational turns forming the hard tier.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Statlog German Credit - 1,000 applicants templated into risk questions.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Design requirements: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Every answer must be machine-checkable, since the reward depends on correctness; numeric answers are graded within 1% tolerance and categorical answers by normalised match.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Two tabular sources were converted into natural-language questions; protected attributes were excluded from the credit risk templates.</a:t>
            </a:r>
          </a:p>
          <a:p>
            <a:pPr lvl="1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Split 70 / 15 / 15 into training, validation and test; 4,000 questions were traced on GPU, yielding 45,853 probe points.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AB7C2FA-097C-CF4B-B19E-0C400E88D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74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DB5D5-E538-6EAD-DBBF-7D6AB3394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ACC2E4E-BF37-B94F-1EE1-DE028BA56A77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0D3E989A-D8A7-8B9E-77DB-1DEA27415E70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B327B57-619E-223C-0549-247D163FC982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FFE79A-59E9-BF22-968D-B970BA583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3736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38E73-C293-323C-82A1-410D59262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Finding 1 - Over-thinking is real and measurable</a:t>
            </a:r>
            <a:endParaRPr lang="en-IN" dirty="0"/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The model reaches the correct answer at some point in 63.3% of questions but retains it in only 42.4%.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On approximately one question in five the correct answer is found and then discarded.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Finding 2 - Additional reasoning stops helping early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Probability that the current answer is correct: 21.5% at step 1, 32.5% at step 6, and 31.3% at step 15.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Accuracy plateaus after approximately step 6, while the model reasons for 11.6 steps on average - about half of all reasoning yields no benefit.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Finding 3 - Optimal stopping would be cheaper and more accurate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Full reasoning: 40.6% accuracy at 538 tokens per question.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Oracle stopping (earliest correct step): 62.9% accuracy at 135 tokens.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This is not a trade-off - correct stopping would improve accuracy by over 20 points while removing roughly 75% of the computation.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3ECEB24-037D-480E-BEF3-B3BC1464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778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89B3-0AC1-5F52-E096-BD003D76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1F72107-6428-FBDB-6F2C-7FBFD9CA0434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EED6AF64-D2C2-CFB1-A34D-E86A88546498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CADAE92-4334-30CF-A6D8-858502055AB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5548835-4273-B718-93B0-8DBB4555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3736"/>
            <a:ext cx="10515600" cy="1325563"/>
          </a:xfrm>
        </p:spPr>
        <p:txBody>
          <a:bodyPr>
            <a:normAutofit/>
          </a:bodyPr>
          <a:lstStyle/>
          <a:p>
            <a:br>
              <a:rPr lang="en-IN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Preliminary Results and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3217A-3C1B-A4BA-438B-B419170C6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Times New Roman"/>
              </a:rPr>
              <a:t>Finding 4 - The learned policy outperforms fixed-rule stopping</a:t>
            </a:r>
            <a:endParaRPr lang="en-IN" dirty="0"/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Evaluated on 599 held-out test questions at matched computational cost (approximately 65% of tokens saved):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Fixed stopping point: 161 of 599 correct (26.9%).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Difficulty-aware DQN: 194 of 599 correct (32.4%) - an improvement of 5.5 points, or 20% in relative terms.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Times New Roman"/>
              </a:rPr>
              <a:t>Finding 5 - The policy adapts to difficulty, as intended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Easy questions: 54% of the available reasoning used, 76.6% accuracy.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Medium questions: 39% used, 44.8% accuracy.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Hard questions: 30% used, 9.0% accuracy - effort is concentrated where the answer is actually reachable. This behaviour was learned from the reward, not specified by hand.</a:t>
            </a:r>
          </a:p>
          <a:p>
            <a:pPr>
              <a:spcAft>
                <a:spcPts val="400"/>
              </a:spcAft>
            </a:pPr>
            <a:r>
              <a:rPr sz="1450" b="1">
                <a:solidFill>
                  <a:srgbClr val="1E2761"/>
                </a:solidFill>
                <a:latin typeface="Times New Roman"/>
              </a:rPr>
              <a:t>Finding 6 - A control experiment qualifies the result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A supervised imitation method reaches 37.1% against the DQN's 34.6% at matched cost.</a:t>
            </a:r>
          </a:p>
          <a:p>
            <a:pPr lvl="1"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Times New Roman"/>
              </a:rPr>
              <a:t>The reasoning traces are fixed recordings, so continuing does not alter the future; formally this is an optimal stopping problem, which is closer to prediction than to control. Both learned methods clearly exceed fixed rules.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15E0039-7212-15DF-9782-04DF472BE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6294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71526-2B57-345B-9988-73C52DE5B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2005DA-011E-14F6-D275-FB7626337CBD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62F564F3-F59D-00CB-AB44-AAF4791DB0DF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F8A5A9-76DB-16DA-D167-9652E55CB94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B01B822-E4BB-F383-A6FB-FAC13CC01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Interim Summary/Conclusion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B961A-643B-4D5D-965F-E46733235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The premise of the project is confirmed on real financial data.</a:t>
            </a:r>
            <a:endParaRPr lang="en-IN"/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Over-thinking is measurable: correct answers are reached 63.3% of the time and retained only 42.4% of the time.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The proposed method works and outperforms the existing approach.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The difficulty-aware DQN is 5.5 accuracy points better than fixed-threshold stopping at identical computational cost, a 20% relative improvement.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It allocates reasoning adaptively across difficulty tiers, a behaviour learned from the reward rather than programmed.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Limitations identified and understood.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A 768-token budget, chosen to fit the free GPU quota, truncated 25% of questions; those score 9.5% against 53.5% for questions that complete. A larger-budget run is in progress.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1A1A1A"/>
                </a:solidFill>
                <a:latin typeface="Times New Roman"/>
              </a:rPr>
              <a:t>Reinforcement learning does not yet outperform supervised imitation, for a structural reason we can explain.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E2761"/>
                </a:solidFill>
                <a:latin typeface="Times New Roman"/>
              </a:rPr>
              <a:t>Implementation status: five of nine stages complete, 395 automated tests passing, and all results reproducible from code.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FDF9863-C6EA-77F7-3286-501B5614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372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6F314-BA7C-F9EA-2887-1AD6B6BD6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9804D83-BC91-7248-A4E8-DEA59425EFDB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A5BAAEE0-CE27-E262-E47C-09A2764B7692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FB856C-0EFB-9D17-B4BD-1F7CAAAE933C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B514DF7-0C81-0D1E-9C3F-24BBC3CF5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Completion plan for the next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C8974-D57C-3FAA-07C0-CAD8C2DED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Week 1 - Raise the reasoning budget</a:t>
            </a:r>
            <a:endParaRPr lang="en-IN"/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Re-run trace generation at 1,536 tokens to remove truncation; overall accuracy is expected to rise from 42% to approximately 52%.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Week 1-2 - Evaluate a larger reasoning model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Pilot the 7-billion-parameter distilled model to measure the further accuracy gain available.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Week 2-3 - Build the financial advisory application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FastAPI service with streaming reasoning and a Streamlit dashboard showing the response time and energy saved on each query.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Week 3-4 - Complete the evaluation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All seven baselines, the accuracy-versus-cost frontier, and measurements of latency, peak memory and energy consumption.</a:t>
            </a:r>
          </a:p>
          <a:p>
            <a:pPr>
              <a:spcAft>
                <a:spcPts val="500"/>
              </a:spcAft>
            </a:pPr>
            <a:r>
              <a:rPr sz="1550" b="1">
                <a:solidFill>
                  <a:srgbClr val="1E2761"/>
                </a:solidFill>
                <a:latin typeface="Times New Roman"/>
              </a:rPr>
              <a:t>Week 4 - Ablation studies and final report</a:t>
            </a:r>
          </a:p>
          <a:p>
            <a:pPr lvl="1">
              <a:spcAft>
                <a:spcPts val="500"/>
              </a:spcAft>
            </a:pPr>
            <a:r>
              <a:rPr sz="1350" b="0">
                <a:solidFill>
                  <a:srgbClr val="1A1A1A"/>
                </a:solidFill>
                <a:latin typeface="Times New Roman"/>
              </a:rPr>
              <a:t>Remove difficulty from the state and from the reward to isolate the contribution of the difficulty-aware mechanism.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D6C57ED-5F3F-F988-5159-7DE3C351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96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56FC5-0E3C-A6B8-635B-1F7B49A6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FDB453B-3A22-52C1-24DB-5B74E4377552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D6B723E1-B797-DB6E-6D5C-2DDEBD4A1AC5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4B0AC-25BB-0D89-3565-833F799E5A67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DDBAFA9-C5E4-4F84-A13B-188A3AEF1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171711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D3B1-7942-40A3-F6DB-34AEA5D46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 wrap="square"/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Chen, Z. et al. (2021). FinQA: A Dataset of Numerical Reasoning over Financial Data. EMNLP.</a:t>
            </a:r>
            <a:endParaRPr lang="en-IN"/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Zhu, F. et al. (2021). TAT-QA: A Question Answering Benchmark on a Hybrid of Tabular and Textual Content in Finance. ACL.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Chen, Z. et al. (2022). ConvFinQA: Exploring the Chain of Numerical Reasoning in Conversational Finance Question Answering. EMNLP.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Wei, J. et al. (2022). Chain-of-Thought Prompting Elicits Reasoning in Large Language Models. NeurIPS.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Wang, X. et al. (2023). Self-Consistency Improves Chain of Thought Reasoning in Language Models. ICLR.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DeepSeek-AI (2025). DeepSeek-R1: Incentivizing Reasoning Capability in LLMs via Reinforcement Learning. arXiv preprint.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van Hasselt, H., Guez, A. and Silver, D. (2016). Deep Reinforcement Learning with Double Q-Learning. AAAI.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Malo, P. et al. (2014). Good Debt or Bad Debt: Detecting Semantic Orientations in Economic Texts. JASIST. (Financial PhraseBank)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Lopez-Rojas, E. A., Elmir, A. and Axelsson, S. (2016). PaySim: A Financial Mobile Money Simulator for Fraud Detection. EMSS.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Hofmann, H. (1994). Statlog (German Credit Data). UCI Machine Learning Repository.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92827C7-83E9-7058-AC38-12B102F2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0921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B8A55-5635-8705-2ED7-B5A24A0E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928AD1B-6B1F-5ED7-E4CA-9F0C9B52AE56}"/>
              </a:ext>
            </a:extLst>
          </p:cNvPr>
          <p:cNvSpPr/>
          <p:nvPr/>
        </p:nvSpPr>
        <p:spPr>
          <a:xfrm>
            <a:off x="-1" y="0"/>
            <a:ext cx="12191998" cy="1262131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Google Shape;91;p1">
            <a:extLst>
              <a:ext uri="{FF2B5EF4-FFF2-40B4-BE49-F238E27FC236}">
                <a16:creationId xmlns:a16="http://schemas.microsoft.com/office/drawing/2014/main" id="{76FD4A37-93A4-8FCC-DBB9-62D9FAFC783A}"/>
              </a:ext>
            </a:extLst>
          </p:cNvPr>
          <p:cNvSpPr txBox="1"/>
          <p:nvPr/>
        </p:nvSpPr>
        <p:spPr>
          <a:xfrm>
            <a:off x="-1" y="6416040"/>
            <a:ext cx="12191998" cy="441960"/>
          </a:xfrm>
          <a:prstGeom prst="rect">
            <a:avLst/>
          </a:prstGeom>
          <a:gradFill flip="none" rotWithShape="1">
            <a:gsLst>
              <a:gs pos="0">
                <a:srgbClr val="1A9B46">
                  <a:tint val="66000"/>
                  <a:satMod val="160000"/>
                </a:srgbClr>
              </a:gs>
              <a:gs pos="50000">
                <a:srgbClr val="1A9B46">
                  <a:tint val="44500"/>
                  <a:satMod val="160000"/>
                </a:srgbClr>
              </a:gs>
              <a:gs pos="100000">
                <a:srgbClr val="1A9B46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lang="en-IN" sz="1600" b="1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Project Review]</a:t>
            </a:r>
            <a:r>
              <a:rPr lang="en-IN" sz="1600" b="1" i="0" u="none" strike="noStrike" cap="none" dirty="0">
                <a:solidFill>
                  <a:srgbClr val="0812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endParaRPr sz="1600" b="1" i="0" u="none" strike="noStrike" cap="none" dirty="0">
              <a:solidFill>
                <a:srgbClr val="0812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FEDEC-E8DE-DA64-2F5D-41CE15570E06}"/>
              </a:ext>
            </a:extLst>
          </p:cNvPr>
          <p:cNvCxnSpPr/>
          <p:nvPr/>
        </p:nvCxnSpPr>
        <p:spPr>
          <a:xfrm>
            <a:off x="0" y="1260899"/>
            <a:ext cx="12192000" cy="0"/>
          </a:xfrm>
          <a:prstGeom prst="line">
            <a:avLst/>
          </a:prstGeom>
          <a:ln w="28575">
            <a:solidFill>
              <a:srgbClr val="1A9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01B5F-205B-C641-7ED1-D909C7B4C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594415"/>
            <a:ext cx="10515600" cy="4351338"/>
          </a:xfrm>
        </p:spPr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3657600" lvl="8" indent="0">
              <a:buNone/>
            </a:pPr>
            <a:r>
              <a:rPr lang="en-IN" sz="5400" dirty="0"/>
              <a:t>Thank you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03796E-86B2-8297-B180-43B97BCC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16105-7B7A-4C42-B2A1-5E9A2FA4F8FD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9455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189</Words>
  <Application>Microsoft Office PowerPoint</Application>
  <PresentationFormat>Widescreen</PresentationFormat>
  <Paragraphs>74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Outline </vt:lpstr>
      <vt:lpstr>Introduction and Motivation </vt:lpstr>
      <vt:lpstr>Problem Definition </vt:lpstr>
      <vt:lpstr>Literature Review </vt:lpstr>
      <vt:lpstr>Gaps Identified </vt:lpstr>
      <vt:lpstr>Objectives </vt:lpstr>
      <vt:lpstr>Methodology </vt:lpstr>
      <vt:lpstr>Dataset Description</vt:lpstr>
      <vt:lpstr> Preliminary Results and Discussion</vt:lpstr>
      <vt:lpstr> Preliminary Results and Discussion</vt:lpstr>
      <vt:lpstr>Interim Summary/Conclusion</vt:lpstr>
      <vt:lpstr>Completion plan for the next phase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Jyothish Lal G - [CEN} Amrita Vishwa Vidyapeetham.</cp:lastModifiedBy>
  <cp:revision>45</cp:revision>
  <dcterms:created xsi:type="dcterms:W3CDTF">2023-07-03T07:55:31Z</dcterms:created>
  <dcterms:modified xsi:type="dcterms:W3CDTF">2026-07-28T09:22:06Z</dcterms:modified>
</cp:coreProperties>
</file>